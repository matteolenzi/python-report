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2" r:id="rId3"/>
    <p:sldId id="287" r:id="rId4"/>
    <p:sldId id="284" r:id="rId5"/>
    <p:sldId id="288" r:id="rId6"/>
    <p:sldId id="285" r:id="rId7"/>
    <p:sldId id="286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97" d="100"/>
          <a:sy n="97" d="100"/>
        </p:scale>
        <p:origin x="5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BDFBB0-F0A2-8118-E287-BC4A4A9D4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AE492E1-1BF7-C630-FD44-C5A6D6742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F73F32-4196-4532-4ADD-9A4AD4CDE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871A52-9C54-4636-B4B5-EED693D1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0EE5E3-8797-3A2A-E066-6A8787CD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541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C12381-2EB7-3093-5991-B956249E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A63F8C-F7B9-4A40-D6D5-EBB5AED66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51A864-DA53-450D-BE91-8BADDD8D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43FD4A-8FB8-279D-800A-77BB1E838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2B8E95-5870-A2AB-437F-4C0DCFF0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364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D672EB-A4E8-3238-8AC3-724123AE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0F688CE-B07A-2873-EEE4-80C67AC2C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EB6308-77E3-7BD7-C7F3-76452886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8C13B0-413C-696F-2F8A-B281E0D9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C073EC-D5E3-19B1-886B-8B4D9823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130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7F958B-8F28-5F2E-797F-04B14BEA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0BA6C0-EDF9-BB11-3A58-C4D15FB87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A431D86-2C4E-B9F9-E2B4-AA8E16D33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86CB715-8DEC-9525-D2C5-2A19A1B5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D95A286-1BAD-C0C2-7BC3-1D567A0E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65538D3-0D36-3CC5-1687-24A0E1C53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804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1BC199-A4AC-CD96-330A-079CBF7E1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47440CA-738E-C3AC-5BD7-0F163DCC6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783D786-456D-6411-23CF-72F0F950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EB268A6-7002-2B52-456F-7F8B97EAC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2F1A451-A063-4115-F24C-13B621375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C3D7D3E-D6B3-EBBC-4934-1CD56189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534CB3F-E626-067B-0678-97A96F39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AD3C5BC-6DEE-6B10-7D61-777B9490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244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5E1EEF-F418-5802-4E51-4E1FBC8D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5A6E613-97C8-F6BE-D9A3-7D9E02BBC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D2C0D19-0A60-BC5C-22A8-F8F2DC4B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54D4DF5-846F-27AA-FD75-762816B99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21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E7C7E1F-EAE7-D50D-85DF-E8CF25FD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999A19-78E5-E8BF-2B2C-5878FE45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A5A9F0D-F8A9-2055-C4C3-83D01BD1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740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FA865-2E44-E99B-69F5-36421678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20B4EF-C441-DEEC-068B-DEC53053E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8AD8904-2441-EAE8-2C95-C65E2BAC3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A111F2-0F71-20A1-6D4D-EC26DBC3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BB2EBB-DBAB-8EF4-0EC1-194C63FFB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5FC74FC-D936-C4B1-4DAB-D3F229A8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994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79194F-7099-09A9-FDD8-28550527F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190A28A-A99A-D1EC-A5F5-2C499164AF6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2206CCF-E161-6FF4-065B-14229CE92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939419E-A330-BEA4-0E3D-152C8727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6828CF7-C597-F095-624F-4A34C5F3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9AA5D0B-9638-CD9E-F03F-742C41BF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816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1D55CB-E54E-6637-3E90-48C2236D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8564AB6-2132-9962-9ABB-51B975C9E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D19250A-D232-D48F-101E-C11BAC39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6CD979-A7C0-BB29-55DB-9E0141980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570738-39C2-818E-998D-3BDBEAAE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484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9CCB5A7-8210-0389-DF30-177940762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D6139C3-9238-E438-D90C-A14B7AD20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44E1188-460D-A93E-66D8-58DA6E40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B6E2AF-E0E5-A728-18EC-88432E91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54CE059-C6F0-55F1-A680-BCF107BB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221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3A001E2-3737-EB1D-A884-39235449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76618FC-882E-8737-AB5F-561E13D57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37B9A1-0BB5-DA4B-030C-4BAB93364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A18F9-051A-46EF-9B3B-C555D488FDB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5FA38B-5AFC-E211-0012-A14A4DC85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C9D0D9-AFC8-5543-2659-E82E272DB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80DEA-AEAF-42E9-8515-D1C03DD6A0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9152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Konstantin_Novoselov" TargetMode="External"/><Relationship Id="rId3" Type="http://schemas.openxmlformats.org/officeDocument/2006/relationships/hyperlink" Target="https://en.wikipedia.org/wiki/Graphite" TargetMode="External"/><Relationship Id="rId7" Type="http://schemas.openxmlformats.org/officeDocument/2006/relationships/hyperlink" Target="https://en.wikipedia.org/wiki/Nobel_Museu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Andre_Geim" TargetMode="External"/><Relationship Id="rId5" Type="http://schemas.openxmlformats.org/officeDocument/2006/relationships/hyperlink" Target="https://en.wikipedia.org/wiki/Tape_dispenser" TargetMode="External"/><Relationship Id="rId4" Type="http://schemas.openxmlformats.org/officeDocument/2006/relationships/hyperlink" Target="https://en.wikipedia.org/wiki/Transistor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7094A-5375-EE4B-A8E5-38B15CB0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56ED37-9337-DC86-CC23-AE861075D094}"/>
              </a:ext>
            </a:extLst>
          </p:cNvPr>
          <p:cNvSpPr/>
          <p:nvPr/>
        </p:nvSpPr>
        <p:spPr>
          <a:xfrm>
            <a:off x="502920" y="16459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42A04-FFAE-F231-14D2-413DC8633CB5}"/>
              </a:ext>
            </a:extLst>
          </p:cNvPr>
          <p:cNvSpPr txBox="1"/>
          <p:nvPr/>
        </p:nvSpPr>
        <p:spPr>
          <a:xfrm>
            <a:off x="10652760" y="16459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NTNU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5EECB1-B3C2-62B3-ECC6-84E21F2E559D}"/>
              </a:ext>
            </a:extLst>
          </p:cNvPr>
          <p:cNvSpPr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808A0FB-D651-5F4C-47F9-744A8D08E141}"/>
              </a:ext>
            </a:extLst>
          </p:cNvPr>
          <p:cNvSpPr txBox="1"/>
          <p:nvPr/>
        </p:nvSpPr>
        <p:spPr>
          <a:xfrm>
            <a:off x="3025078" y="2413337"/>
            <a:ext cx="61387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/>
              <a:t>2D-Based Device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B3B37F1-3DA1-7C19-1668-7202C5BDF8D0}"/>
              </a:ext>
            </a:extLst>
          </p:cNvPr>
          <p:cNvSpPr txBox="1"/>
          <p:nvPr/>
        </p:nvSpPr>
        <p:spPr>
          <a:xfrm>
            <a:off x="4976734" y="3886199"/>
            <a:ext cx="223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Author: Matteo Lenzi</a:t>
            </a:r>
          </a:p>
        </p:txBody>
      </p:sp>
    </p:spTree>
    <p:extLst>
      <p:ext uri="{BB962C8B-B14F-4D97-AF65-F5344CB8AC3E}">
        <p14:creationId xmlns:p14="http://schemas.microsoft.com/office/powerpoint/2010/main" val="3342290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F937A-40EF-2A3E-2482-90BC059B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5EB6BA-A115-10F9-0755-15CFFDF696FB}"/>
              </a:ext>
            </a:extLst>
          </p:cNvPr>
          <p:cNvSpPr/>
          <p:nvPr/>
        </p:nvSpPr>
        <p:spPr>
          <a:xfrm>
            <a:off x="502920" y="16459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62644-698F-54CF-A80C-7E103CA320E8}"/>
              </a:ext>
            </a:extLst>
          </p:cNvPr>
          <p:cNvSpPr txBox="1"/>
          <p:nvPr/>
        </p:nvSpPr>
        <p:spPr>
          <a:xfrm>
            <a:off x="10652760" y="16459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NTNU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5A8B89-94F5-4FC1-1DF1-C5A4F3AB3B94}"/>
              </a:ext>
            </a:extLst>
          </p:cNvPr>
          <p:cNvSpPr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CDD9606A-796E-7257-8CC0-4F2D37C5F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it-IT" b="1" dirty="0"/>
              <a:t>Definition of 2D </a:t>
            </a:r>
            <a:r>
              <a:rPr lang="it-IT" b="1" dirty="0" err="1"/>
              <a:t>material</a:t>
            </a:r>
            <a:endParaRPr lang="it-IT" b="1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64CFF25-29F6-990B-C83C-2258D6B95585}"/>
              </a:ext>
            </a:extLst>
          </p:cNvPr>
          <p:cNvSpPr txBox="1"/>
          <p:nvPr/>
        </p:nvSpPr>
        <p:spPr>
          <a:xfrm>
            <a:off x="1251818" y="1419495"/>
            <a:ext cx="94575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2D </a:t>
            </a:r>
            <a:r>
              <a:rPr lang="it-IT" sz="2800" dirty="0" err="1"/>
              <a:t>materials</a:t>
            </a:r>
            <a:r>
              <a:rPr lang="it-IT" sz="2800" dirty="0"/>
              <a:t> are </a:t>
            </a:r>
            <a:r>
              <a:rPr lang="it-IT" sz="2800" dirty="0" err="1"/>
              <a:t>crystalline</a:t>
            </a:r>
            <a:r>
              <a:rPr lang="it-IT" sz="2800" dirty="0"/>
              <a:t> </a:t>
            </a:r>
            <a:r>
              <a:rPr lang="it-IT" sz="2800" dirty="0" err="1"/>
              <a:t>materials</a:t>
            </a:r>
            <a:r>
              <a:rPr lang="it-IT" sz="2800" dirty="0"/>
              <a:t> with </a:t>
            </a:r>
            <a:r>
              <a:rPr lang="it-IT" sz="2800" dirty="0" err="1"/>
              <a:t>thicknesses</a:t>
            </a:r>
            <a:r>
              <a:rPr lang="it-IT" sz="2800" dirty="0"/>
              <a:t> </a:t>
            </a:r>
            <a:r>
              <a:rPr lang="it-IT" sz="2800" dirty="0" err="1"/>
              <a:t>ranging</a:t>
            </a:r>
            <a:r>
              <a:rPr lang="it-IT" sz="2800" dirty="0"/>
              <a:t> from a single </a:t>
            </a:r>
            <a:r>
              <a:rPr lang="it-IT" sz="2800" dirty="0" err="1"/>
              <a:t>atomic</a:t>
            </a:r>
            <a:r>
              <a:rPr lang="it-IT" sz="2800" dirty="0"/>
              <a:t> </a:t>
            </a:r>
            <a:r>
              <a:rPr lang="it-IT" sz="2800" dirty="0" err="1"/>
              <a:t>layer</a:t>
            </a:r>
            <a:r>
              <a:rPr lang="it-IT" sz="2800" dirty="0"/>
              <a:t> to a </a:t>
            </a:r>
            <a:r>
              <a:rPr lang="it-IT" sz="2800" dirty="0" err="1"/>
              <a:t>few</a:t>
            </a:r>
            <a:r>
              <a:rPr lang="it-IT" sz="2800" dirty="0"/>
              <a:t> </a:t>
            </a:r>
            <a:r>
              <a:rPr lang="it-IT" sz="2800" dirty="0" err="1"/>
              <a:t>atomic</a:t>
            </a:r>
            <a:r>
              <a:rPr lang="it-IT" sz="2800" dirty="0"/>
              <a:t> </a:t>
            </a:r>
            <a:r>
              <a:rPr lang="it-IT" sz="2800" dirty="0" err="1"/>
              <a:t>layers</a:t>
            </a:r>
            <a:r>
              <a:rPr lang="it-IT" sz="2800" dirty="0"/>
              <a:t>, </a:t>
            </a:r>
            <a:r>
              <a:rPr lang="it-IT" sz="2800" dirty="0" err="1"/>
              <a:t>which</a:t>
            </a:r>
            <a:r>
              <a:rPr lang="it-IT" sz="2800" dirty="0"/>
              <a:t> are </a:t>
            </a:r>
            <a:r>
              <a:rPr lang="it-IT" sz="2800" dirty="0" err="1"/>
              <a:t>held</a:t>
            </a:r>
            <a:r>
              <a:rPr lang="it-IT" sz="2800" dirty="0"/>
              <a:t> </a:t>
            </a:r>
            <a:r>
              <a:rPr lang="it-IT" sz="2800" dirty="0" err="1"/>
              <a:t>toghether</a:t>
            </a:r>
            <a:r>
              <a:rPr lang="it-IT" sz="2800" dirty="0"/>
              <a:t> by </a:t>
            </a:r>
            <a:r>
              <a:rPr lang="it-IT" sz="2800" dirty="0" err="1"/>
              <a:t>weak</a:t>
            </a:r>
            <a:r>
              <a:rPr lang="it-IT" sz="2800" dirty="0"/>
              <a:t> interactions </a:t>
            </a:r>
            <a:r>
              <a:rPr lang="it-IT" sz="2800" dirty="0" err="1"/>
              <a:t>as</a:t>
            </a:r>
            <a:r>
              <a:rPr lang="it-IT" sz="2800" dirty="0"/>
              <a:t> VDW </a:t>
            </a:r>
            <a:r>
              <a:rPr lang="it-IT" sz="2800" dirty="0" err="1"/>
              <a:t>forces</a:t>
            </a:r>
            <a:r>
              <a:rPr lang="it-IT" sz="2800" dirty="0"/>
              <a:t>, and with </a:t>
            </a:r>
            <a:r>
              <a:rPr lang="it-IT" sz="2800" dirty="0" err="1"/>
              <a:t>potentially</a:t>
            </a:r>
            <a:r>
              <a:rPr lang="it-IT" sz="2800" dirty="0"/>
              <a:t> </a:t>
            </a:r>
            <a:r>
              <a:rPr lang="it-IT" sz="2800" dirty="0" err="1"/>
              <a:t>different</a:t>
            </a:r>
            <a:r>
              <a:rPr lang="it-IT" sz="2800" dirty="0"/>
              <a:t> </a:t>
            </a:r>
            <a:r>
              <a:rPr lang="it-IT" sz="2800" dirty="0" err="1"/>
              <a:t>properties</a:t>
            </a:r>
            <a:r>
              <a:rPr lang="it-IT" sz="2800" dirty="0"/>
              <a:t> from the bulk </a:t>
            </a:r>
            <a:r>
              <a:rPr lang="it-IT" sz="2800" dirty="0" err="1"/>
              <a:t>material</a:t>
            </a:r>
            <a:r>
              <a:rPr lang="it-IT" sz="2800" dirty="0"/>
              <a:t>.</a:t>
            </a:r>
          </a:p>
        </p:txBody>
      </p:sp>
      <p:pic>
        <p:nvPicPr>
          <p:cNvPr id="19" name="Immagine 18" descr="Supermaterials of the Future: How They Will Transform Our World | by Boris (Bruce) Kriger | GLOBAL SCIENCE NEWS | Medium">
            <a:extLst>
              <a:ext uri="{FF2B5EF4-FFF2-40B4-BE49-F238E27FC236}">
                <a16:creationId xmlns:a16="http://schemas.microsoft.com/office/drawing/2014/main" id="{D48675DD-16C3-B53F-5D81-9637BC6FE0C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03422"/>
            <a:ext cx="3348000" cy="2124000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781F23B-E552-8623-32E9-925B8DD757BC}"/>
              </a:ext>
            </a:extLst>
          </p:cNvPr>
          <p:cNvSpPr txBox="1"/>
          <p:nvPr/>
        </p:nvSpPr>
        <p:spPr>
          <a:xfrm>
            <a:off x="1927969" y="5972733"/>
            <a:ext cx="1168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Graphene</a:t>
            </a:r>
          </a:p>
        </p:txBody>
      </p:sp>
      <p:pic>
        <p:nvPicPr>
          <p:cNvPr id="21" name="Immagine 20" descr="Molybdenum Disulfide (MoS2) Structure &amp; Properties&#10;       | Ossila">
            <a:extLst>
              <a:ext uri="{FF2B5EF4-FFF2-40B4-BE49-F238E27FC236}">
                <a16:creationId xmlns:a16="http://schemas.microsoft.com/office/drawing/2014/main" id="{FAE16760-B1FE-627E-CBC2-B062D23A3A9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657802" y="3803422"/>
            <a:ext cx="3348000" cy="2124000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DD919EB-A825-606E-9334-27E90B887AB3}"/>
              </a:ext>
            </a:extLst>
          </p:cNvPr>
          <p:cNvSpPr txBox="1"/>
          <p:nvPr/>
        </p:nvSpPr>
        <p:spPr>
          <a:xfrm>
            <a:off x="5741655" y="5979312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MoS</a:t>
            </a:r>
            <a:r>
              <a:rPr lang="it-IT" sz="1050" dirty="0"/>
              <a:t>2</a:t>
            </a:r>
            <a:endParaRPr lang="it-IT" dirty="0"/>
          </a:p>
        </p:txBody>
      </p:sp>
      <p:pic>
        <p:nvPicPr>
          <p:cNvPr id="24" name="Immagine 23" descr="Hexagonal Boron Nitride (h-BN) Film | CAS 10043-11-5&#10;       | Ossila">
            <a:extLst>
              <a:ext uri="{FF2B5EF4-FFF2-40B4-BE49-F238E27FC236}">
                <a16:creationId xmlns:a16="http://schemas.microsoft.com/office/drawing/2014/main" id="{416C91F1-7D0E-FEAC-053D-A0097E282D7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143464" y="3803422"/>
            <a:ext cx="3348000" cy="2124000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FE03F3B2-A77E-546B-146E-1F35AC7936B8}"/>
              </a:ext>
            </a:extLst>
          </p:cNvPr>
          <p:cNvSpPr txBox="1"/>
          <p:nvPr/>
        </p:nvSpPr>
        <p:spPr>
          <a:xfrm>
            <a:off x="9452620" y="594689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H-BN</a:t>
            </a:r>
          </a:p>
        </p:txBody>
      </p:sp>
    </p:spTree>
    <p:extLst>
      <p:ext uri="{BB962C8B-B14F-4D97-AF65-F5344CB8AC3E}">
        <p14:creationId xmlns:p14="http://schemas.microsoft.com/office/powerpoint/2010/main" val="3647542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4140-62D6-E900-CE06-CBF87AEA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4C022-F63B-89B4-7DF7-1793B1AB46FF}"/>
              </a:ext>
            </a:extLst>
          </p:cNvPr>
          <p:cNvSpPr/>
          <p:nvPr/>
        </p:nvSpPr>
        <p:spPr>
          <a:xfrm>
            <a:off x="502920" y="16459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5BEAC2-901E-5B81-E527-BE9E8E5CFA0D}"/>
              </a:ext>
            </a:extLst>
          </p:cNvPr>
          <p:cNvSpPr txBox="1"/>
          <p:nvPr/>
        </p:nvSpPr>
        <p:spPr>
          <a:xfrm>
            <a:off x="10652760" y="16459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NTNU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B8AA51-C2E0-F3A6-F02E-48F0DEF28B99}"/>
              </a:ext>
            </a:extLst>
          </p:cNvPr>
          <p:cNvSpPr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353D621A-CCC3-9941-6068-ECABB895E09F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it-IT" b="1" dirty="0"/>
              <a:t>Definition of 2D-based devices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31BBF09-7D8C-9DA6-FB43-DAF1C2CAE841}"/>
              </a:ext>
            </a:extLst>
          </p:cNvPr>
          <p:cNvSpPr txBox="1"/>
          <p:nvPr/>
        </p:nvSpPr>
        <p:spPr>
          <a:xfrm>
            <a:off x="7664521" y="2335202"/>
            <a:ext cx="29638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2D </a:t>
            </a:r>
            <a:r>
              <a:rPr lang="it-IT" sz="2800" dirty="0" err="1"/>
              <a:t>based</a:t>
            </a:r>
            <a:r>
              <a:rPr lang="it-IT" sz="2800" dirty="0"/>
              <a:t> devices are </a:t>
            </a:r>
            <a:r>
              <a:rPr lang="it-IT" sz="2800" dirty="0" err="1"/>
              <a:t>sensor</a:t>
            </a:r>
            <a:r>
              <a:rPr lang="it-IT" sz="2800" dirty="0"/>
              <a:t>, </a:t>
            </a:r>
            <a:r>
              <a:rPr lang="it-IT" sz="2800" dirty="0" err="1"/>
              <a:t>electronic</a:t>
            </a:r>
            <a:r>
              <a:rPr lang="it-IT" sz="2800" dirty="0"/>
              <a:t> and </a:t>
            </a:r>
            <a:r>
              <a:rPr lang="it-IT" sz="2800" dirty="0" err="1"/>
              <a:t>optoelectronic</a:t>
            </a:r>
            <a:r>
              <a:rPr lang="it-IT" sz="2800" dirty="0"/>
              <a:t> devices </a:t>
            </a:r>
            <a:r>
              <a:rPr lang="it-IT" sz="2800" dirty="0" err="1"/>
              <a:t>built</a:t>
            </a:r>
            <a:r>
              <a:rPr lang="it-IT" sz="2800" dirty="0"/>
              <a:t> from 2D </a:t>
            </a:r>
            <a:r>
              <a:rPr lang="it-IT" sz="2800" dirty="0" err="1"/>
              <a:t>material</a:t>
            </a:r>
            <a:r>
              <a:rPr lang="it-IT" sz="2800" dirty="0"/>
              <a:t>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B02D3F1-B349-1E85-8E97-5D66F4E5B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51" y="1690688"/>
            <a:ext cx="6037414" cy="400974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60168E2-579C-A11D-34CD-9E5E3EC24B50}"/>
              </a:ext>
            </a:extLst>
          </p:cNvPr>
          <p:cNvSpPr txBox="1"/>
          <p:nvPr/>
        </p:nvSpPr>
        <p:spPr>
          <a:xfrm>
            <a:off x="502920" y="5764027"/>
            <a:ext cx="9344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A </a:t>
            </a:r>
            <a:r>
              <a:rPr lang="it-IT" sz="1800" b="0" i="0" dirty="0" err="1">
                <a:solidFill>
                  <a:schemeClr val="tx1"/>
                </a:solidFill>
                <a:effectLst/>
                <a:latin typeface="+mn-lt"/>
              </a:rPr>
              <a:t>lump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 of </a:t>
            </a:r>
            <a:r>
              <a:rPr lang="it-IT" sz="1800" b="0" i="0" u="none" strike="noStrike" dirty="0" err="1">
                <a:solidFill>
                  <a:schemeClr val="tx1"/>
                </a:solidFill>
                <a:effectLst/>
                <a:latin typeface="+mn-lt"/>
                <a:hlinkClick r:id="rId3" tooltip="Graphite"/>
              </a:rPr>
              <a:t>graphite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, a </a:t>
            </a:r>
            <a:r>
              <a:rPr lang="it-IT" sz="1800" b="0" i="0" dirty="0" err="1">
                <a:solidFill>
                  <a:schemeClr val="tx1"/>
                </a:solidFill>
                <a:effectLst/>
                <a:latin typeface="+mn-lt"/>
              </a:rPr>
              <a:t>graphene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it-IT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4" tooltip="Transistor"/>
              </a:rPr>
              <a:t>transistor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, and a </a:t>
            </a:r>
            <a:r>
              <a:rPr lang="it-IT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5" tooltip="Tape dispenser"/>
              </a:rPr>
              <a:t>tape dispenser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it-IT" sz="1800" b="0" i="0" dirty="0" err="1">
                <a:solidFill>
                  <a:schemeClr val="tx1"/>
                </a:solidFill>
                <a:effectLst/>
                <a:latin typeface="+mn-lt"/>
              </a:rPr>
              <a:t>signed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 by </a:t>
            </a:r>
            <a:r>
              <a:rPr lang="it-IT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6" tooltip="Andre Geim"/>
              </a:rPr>
              <a:t>Andre </a:t>
            </a:r>
            <a:r>
              <a:rPr lang="it-IT" sz="1800" b="0" i="0" u="none" strike="noStrike" dirty="0" err="1">
                <a:solidFill>
                  <a:schemeClr val="tx1"/>
                </a:solidFill>
                <a:effectLst/>
                <a:latin typeface="+mn-lt"/>
                <a:hlinkClick r:id="rId6" tooltip="Andre Geim"/>
              </a:rPr>
              <a:t>Geim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it-IT" sz="1800" b="0" i="0" dirty="0" err="1">
                <a:solidFill>
                  <a:schemeClr val="tx1"/>
                </a:solidFill>
                <a:effectLst/>
                <a:latin typeface="+mn-lt"/>
              </a:rPr>
              <a:t>Donated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 to the </a:t>
            </a:r>
            <a:r>
              <a:rPr lang="it-IT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7" tooltip="Nobel Museum"/>
              </a:rPr>
              <a:t>Nobel Museum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 in Stockholm by </a:t>
            </a:r>
            <a:r>
              <a:rPr lang="it-IT" sz="1800" b="0" i="0" dirty="0" err="1">
                <a:solidFill>
                  <a:schemeClr val="tx1"/>
                </a:solidFill>
                <a:effectLst/>
                <a:latin typeface="+mn-lt"/>
              </a:rPr>
              <a:t>Geim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lang="it-IT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8" tooltip="Konstantin Novoselov"/>
              </a:rPr>
              <a:t>Konstantin </a:t>
            </a:r>
            <a:r>
              <a:rPr lang="it-IT" sz="1800" b="0" i="0" u="none" strike="noStrike" dirty="0" err="1">
                <a:solidFill>
                  <a:schemeClr val="tx1"/>
                </a:solidFill>
                <a:effectLst/>
                <a:latin typeface="+mn-lt"/>
                <a:hlinkClick r:id="rId8" tooltip="Konstantin Novoselov"/>
              </a:rPr>
              <a:t>Novoselov</a:t>
            </a:r>
            <a:r>
              <a:rPr lang="it-IT" sz="1800" b="0" i="0" dirty="0">
                <a:solidFill>
                  <a:schemeClr val="tx1"/>
                </a:solidFill>
                <a:effectLst/>
                <a:latin typeface="+mn-lt"/>
              </a:rPr>
              <a:t> in 2010.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55426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3D5D2-EA28-74D4-7209-3A3E4503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39F040-332A-B8EA-4FDE-07BB081BCE97}"/>
              </a:ext>
            </a:extLst>
          </p:cNvPr>
          <p:cNvSpPr/>
          <p:nvPr/>
        </p:nvSpPr>
        <p:spPr>
          <a:xfrm>
            <a:off x="502920" y="16459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85D91-56DB-AD24-DFB4-2D265D963B39}"/>
              </a:ext>
            </a:extLst>
          </p:cNvPr>
          <p:cNvSpPr txBox="1"/>
          <p:nvPr/>
        </p:nvSpPr>
        <p:spPr>
          <a:xfrm>
            <a:off x="10652760" y="16459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NTNU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4CE7E4-C4EF-F455-2391-93C3D209E864}"/>
              </a:ext>
            </a:extLst>
          </p:cNvPr>
          <p:cNvSpPr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B7C1A9D-55F1-EA89-DA09-CFE3D79B83B5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it-IT" b="1" dirty="0" err="1"/>
              <a:t>Worked</a:t>
            </a:r>
            <a:r>
              <a:rPr lang="it-IT" b="1" dirty="0"/>
              <a:t> out </a:t>
            </a:r>
            <a:r>
              <a:rPr lang="it-IT" b="1" dirty="0" err="1"/>
              <a:t>example</a:t>
            </a:r>
            <a:r>
              <a:rPr lang="it-IT" b="1" dirty="0"/>
              <a:t> MoS</a:t>
            </a:r>
            <a:r>
              <a:rPr lang="it-IT" sz="2800" b="1" dirty="0"/>
              <a:t>2</a:t>
            </a:r>
            <a:endParaRPr lang="it-IT" b="1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022DF0E7-0452-908D-B34B-26DA31EDC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097" y="1842721"/>
            <a:ext cx="4232671" cy="3869071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FDADEC3B-6991-86C6-A9FB-ADFA589F1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65" y="1459719"/>
            <a:ext cx="4362672" cy="453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34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A2DD-A929-0B82-A324-4F5411C2B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F2F7D4-C02D-E790-EA92-AD9BC8D060D7}"/>
              </a:ext>
            </a:extLst>
          </p:cNvPr>
          <p:cNvSpPr/>
          <p:nvPr/>
        </p:nvSpPr>
        <p:spPr>
          <a:xfrm>
            <a:off x="502920" y="16459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0906D9-4AA5-A205-BEEF-CC9F2CDEF6D5}"/>
              </a:ext>
            </a:extLst>
          </p:cNvPr>
          <p:cNvSpPr txBox="1"/>
          <p:nvPr/>
        </p:nvSpPr>
        <p:spPr>
          <a:xfrm>
            <a:off x="10652760" y="16459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NTNU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5AECE8-9651-8514-55E8-7508F6A67D6F}"/>
              </a:ext>
            </a:extLst>
          </p:cNvPr>
          <p:cNvSpPr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1104C5F-0648-756D-4884-84CFC5C38EB3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it-IT" b="1" dirty="0" err="1"/>
              <a:t>Worked</a:t>
            </a:r>
            <a:r>
              <a:rPr lang="it-IT" b="1" dirty="0"/>
              <a:t> out </a:t>
            </a:r>
            <a:r>
              <a:rPr lang="it-IT" b="1" dirty="0" err="1"/>
              <a:t>example</a:t>
            </a:r>
            <a:r>
              <a:rPr lang="it-IT" b="1" dirty="0"/>
              <a:t> MoS</a:t>
            </a:r>
            <a:r>
              <a:rPr lang="it-IT" sz="2800" b="1" dirty="0"/>
              <a:t>2</a:t>
            </a:r>
            <a:endParaRPr lang="it-IT" b="1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F2EEE9F-AE8F-62A7-C19E-2EB73E8CA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0053"/>
            <a:ext cx="12192000" cy="287035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83D1B69-A2B8-1FE9-5BF8-C1FD0037C087}"/>
              </a:ext>
            </a:extLst>
          </p:cNvPr>
          <p:cNvSpPr txBox="1"/>
          <p:nvPr/>
        </p:nvSpPr>
        <p:spPr>
          <a:xfrm>
            <a:off x="1951159" y="4392942"/>
            <a:ext cx="8107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from the </a:t>
            </a:r>
            <a:r>
              <a:rPr lang="it-IT" dirty="0" err="1"/>
              <a:t>python</a:t>
            </a:r>
            <a:r>
              <a:rPr lang="it-IT" dirty="0"/>
              <a:t> code show </a:t>
            </a:r>
            <a:r>
              <a:rPr lang="it-IT" dirty="0" err="1"/>
              <a:t>how</a:t>
            </a:r>
            <a:r>
              <a:rPr lang="it-IT" dirty="0"/>
              <a:t>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layers</a:t>
            </a:r>
            <a:r>
              <a:rPr lang="it-IT" dirty="0"/>
              <a:t> </a:t>
            </a:r>
            <a:r>
              <a:rPr lang="it-IT" dirty="0" err="1"/>
              <a:t>influence</a:t>
            </a:r>
            <a:r>
              <a:rPr lang="it-IT" dirty="0"/>
              <a:t> the point group of  the </a:t>
            </a:r>
            <a:r>
              <a:rPr lang="it-IT" dirty="0" err="1"/>
              <a:t>monolayer</a:t>
            </a:r>
            <a:r>
              <a:rPr lang="it-IT" dirty="0"/>
              <a:t> </a:t>
            </a:r>
            <a:r>
              <a:rPr lang="it-IT" dirty="0" err="1"/>
              <a:t>compared</a:t>
            </a:r>
            <a:r>
              <a:rPr lang="it-IT" dirty="0"/>
              <a:t> to the bulk </a:t>
            </a:r>
            <a:r>
              <a:rPr lang="it-IT" dirty="0" err="1"/>
              <a:t>material</a:t>
            </a:r>
            <a:r>
              <a:rPr lang="it-IT" dirty="0"/>
              <a:t>. </a:t>
            </a:r>
            <a:r>
              <a:rPr lang="it-IT" dirty="0" err="1"/>
              <a:t>Therefore</a:t>
            </a:r>
            <a:r>
              <a:rPr lang="it-IT" dirty="0"/>
              <a:t>, </a:t>
            </a:r>
            <a:r>
              <a:rPr lang="it-IT" dirty="0" err="1"/>
              <a:t>monolayer</a:t>
            </a:r>
            <a:r>
              <a:rPr lang="it-IT" dirty="0"/>
              <a:t> and bulk </a:t>
            </a:r>
            <a:r>
              <a:rPr lang="it-IT" dirty="0" err="1"/>
              <a:t>material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properties</a:t>
            </a:r>
            <a:r>
              <a:rPr lang="it-IT" dirty="0"/>
              <a:t>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A5D24B7-CAE3-30AA-BA88-4C432869AE56}"/>
              </a:ext>
            </a:extLst>
          </p:cNvPr>
          <p:cNvSpPr txBox="1"/>
          <p:nvPr/>
        </p:nvSpPr>
        <p:spPr>
          <a:xfrm>
            <a:off x="1647783" y="5571946"/>
            <a:ext cx="8893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For </a:t>
            </a:r>
            <a:r>
              <a:rPr lang="it-IT" dirty="0" err="1"/>
              <a:t>example</a:t>
            </a:r>
            <a:r>
              <a:rPr lang="it-IT" dirty="0"/>
              <a:t>, in MoS</a:t>
            </a:r>
            <a:r>
              <a:rPr lang="it-IT" sz="1200" dirty="0"/>
              <a:t>2</a:t>
            </a:r>
            <a:r>
              <a:rPr lang="it-IT" dirty="0"/>
              <a:t> the </a:t>
            </a:r>
            <a:r>
              <a:rPr lang="it-IT" dirty="0" err="1"/>
              <a:t>monolayer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exhibit</a:t>
            </a:r>
            <a:r>
              <a:rPr lang="it-IT" dirty="0"/>
              <a:t> 3° </a:t>
            </a:r>
            <a:r>
              <a:rPr lang="it-IT" dirty="0" err="1"/>
              <a:t>rank</a:t>
            </a:r>
            <a:r>
              <a:rPr lang="it-IT" dirty="0"/>
              <a:t> </a:t>
            </a:r>
            <a:r>
              <a:rPr lang="it-IT" dirty="0" err="1"/>
              <a:t>properties</a:t>
            </a:r>
            <a:r>
              <a:rPr lang="it-IT" dirty="0"/>
              <a:t> (e.g. </a:t>
            </a:r>
            <a:r>
              <a:rPr lang="it-IT" dirty="0" err="1"/>
              <a:t>piezoelectricity</a:t>
            </a:r>
            <a:r>
              <a:rPr lang="it-IT" dirty="0"/>
              <a:t>, Pockel </a:t>
            </a:r>
            <a:r>
              <a:rPr lang="it-IT" dirty="0" err="1"/>
              <a:t>effect</a:t>
            </a:r>
            <a:r>
              <a:rPr lang="it-IT" dirty="0"/>
              <a:t> and Kerr </a:t>
            </a:r>
            <a:r>
              <a:rPr lang="it-IT" dirty="0" err="1"/>
              <a:t>effect</a:t>
            </a:r>
            <a:r>
              <a:rPr lang="it-IT" dirty="0"/>
              <a:t>) </a:t>
            </a:r>
            <a:r>
              <a:rPr lang="it-IT" dirty="0" err="1"/>
              <a:t>because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centrosymmetric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the </a:t>
            </a:r>
            <a:r>
              <a:rPr lang="it-IT" dirty="0" err="1"/>
              <a:t>multilayer</a:t>
            </a:r>
            <a:r>
              <a:rPr lang="it-IT" dirty="0"/>
              <a:t> and the bulk </a:t>
            </a:r>
            <a:r>
              <a:rPr lang="it-IT" dirty="0" err="1"/>
              <a:t>material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1186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2926-3D25-E6CF-1770-B28ED8F5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B03983-C53B-9D00-6D1E-C91B77CBF77B}"/>
              </a:ext>
            </a:extLst>
          </p:cNvPr>
          <p:cNvSpPr/>
          <p:nvPr/>
        </p:nvSpPr>
        <p:spPr>
          <a:xfrm>
            <a:off x="502920" y="16459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DA09D-2DDF-46DD-0F55-522E4CDAFDD1}"/>
              </a:ext>
            </a:extLst>
          </p:cNvPr>
          <p:cNvSpPr txBox="1"/>
          <p:nvPr/>
        </p:nvSpPr>
        <p:spPr>
          <a:xfrm>
            <a:off x="10652760" y="16459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NTNU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F4823F-CDE9-C72E-F131-D802DBF03061}"/>
              </a:ext>
            </a:extLst>
          </p:cNvPr>
          <p:cNvSpPr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FBB27EF9-39BF-F2AB-50BB-849021E6EEFE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it-IT" b="1" dirty="0"/>
              <a:t>Applications</a:t>
            </a:r>
          </a:p>
        </p:txBody>
      </p:sp>
      <p:pic>
        <p:nvPicPr>
          <p:cNvPr id="6" name="Immagine 5" descr="FET: Definition, Symbol, Working, Characteristics, Types &amp; Applications ...">
            <a:extLst>
              <a:ext uri="{FF2B5EF4-FFF2-40B4-BE49-F238E27FC236}">
                <a16:creationId xmlns:a16="http://schemas.microsoft.com/office/drawing/2014/main" id="{A92D8736-4B12-5DC0-3394-FE1BB0E6B6B8}"/>
              </a:ext>
            </a:extLst>
          </p:cNvPr>
          <p:cNvPicPr>
            <a:picLocks/>
          </p:cNvPicPr>
          <p:nvPr/>
        </p:nvPicPr>
        <p:blipFill>
          <a:blip r:embed="rId2"/>
          <a:srcRect l="13106" t="21694" r="15352" b="6887"/>
          <a:stretch>
            <a:fillRect/>
          </a:stretch>
        </p:blipFill>
        <p:spPr>
          <a:xfrm>
            <a:off x="1505704" y="1875789"/>
            <a:ext cx="3348000" cy="1872934"/>
          </a:xfrm>
          <a:prstGeom prst="rect">
            <a:avLst/>
          </a:prstGeom>
        </p:spPr>
      </p:pic>
      <p:pic>
        <p:nvPicPr>
          <p:cNvPr id="10" name="Immagine 9" descr="Balanced Photodetectors in Optical Systems: Principle, Features, and ...">
            <a:extLst>
              <a:ext uri="{FF2B5EF4-FFF2-40B4-BE49-F238E27FC236}">
                <a16:creationId xmlns:a16="http://schemas.microsoft.com/office/drawing/2014/main" id="{30B830A4-AC27-600E-5E90-AEC6DAAA3A4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338296" y="1891221"/>
            <a:ext cx="3348000" cy="187200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818554C-9368-A744-53DF-DEA2B3B9A050}"/>
              </a:ext>
            </a:extLst>
          </p:cNvPr>
          <p:cNvSpPr txBox="1"/>
          <p:nvPr/>
        </p:nvSpPr>
        <p:spPr>
          <a:xfrm>
            <a:off x="1964659" y="1470287"/>
            <a:ext cx="2430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Field-</a:t>
            </a:r>
            <a:r>
              <a:rPr lang="it-IT" dirty="0" err="1"/>
              <a:t>effect</a:t>
            </a:r>
            <a:r>
              <a:rPr lang="it-IT" dirty="0"/>
              <a:t> </a:t>
            </a:r>
            <a:r>
              <a:rPr lang="it-IT" dirty="0" err="1"/>
              <a:t>transistors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9876900-7053-7AF9-A9FD-758438BF8890}"/>
              </a:ext>
            </a:extLst>
          </p:cNvPr>
          <p:cNvSpPr txBox="1"/>
          <p:nvPr/>
        </p:nvSpPr>
        <p:spPr>
          <a:xfrm>
            <a:off x="8202747" y="1447518"/>
            <a:ext cx="1729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Photodetectors</a:t>
            </a:r>
            <a:endParaRPr lang="it-IT" dirty="0"/>
          </a:p>
        </p:txBody>
      </p:sp>
      <p:pic>
        <p:nvPicPr>
          <p:cNvPr id="13" name="Immagine 12" descr="Chemical Sensor : Structure, Circuit, Differences &amp; Its Applications">
            <a:extLst>
              <a:ext uri="{FF2B5EF4-FFF2-40B4-BE49-F238E27FC236}">
                <a16:creationId xmlns:a16="http://schemas.microsoft.com/office/drawing/2014/main" id="{6AC897F8-8F8A-CC5F-319D-23B4358C8ED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505704" y="4255581"/>
            <a:ext cx="3348000" cy="187200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732E82A-A08C-4A66-C80D-02608F07A9E2}"/>
              </a:ext>
            </a:extLst>
          </p:cNvPr>
          <p:cNvSpPr txBox="1"/>
          <p:nvPr/>
        </p:nvSpPr>
        <p:spPr>
          <a:xfrm>
            <a:off x="2189080" y="3897654"/>
            <a:ext cx="1981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Chemical </a:t>
            </a:r>
            <a:r>
              <a:rPr lang="it-IT" dirty="0" err="1"/>
              <a:t>sensors</a:t>
            </a:r>
            <a:endParaRPr lang="it-IT" dirty="0"/>
          </a:p>
        </p:txBody>
      </p:sp>
      <p:pic>
        <p:nvPicPr>
          <p:cNvPr id="15" name="Immagine 14" descr="Introduction to Flexible Electronics — LOOMIA Soft Electronics | E-textiles">
            <a:extLst>
              <a:ext uri="{FF2B5EF4-FFF2-40B4-BE49-F238E27FC236}">
                <a16:creationId xmlns:a16="http://schemas.microsoft.com/office/drawing/2014/main" id="{675FA3DC-0D62-7608-F1EE-0AAD816ABBA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338296" y="4255581"/>
            <a:ext cx="3348000" cy="1872000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871699F-C7FF-9B5F-EA08-56C46E9F47E8}"/>
              </a:ext>
            </a:extLst>
          </p:cNvPr>
          <p:cNvSpPr txBox="1"/>
          <p:nvPr/>
        </p:nvSpPr>
        <p:spPr>
          <a:xfrm>
            <a:off x="8010033" y="3909210"/>
            <a:ext cx="2114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Flexible</a:t>
            </a:r>
            <a:r>
              <a:rPr lang="it-IT" dirty="0"/>
              <a:t> </a:t>
            </a:r>
            <a:r>
              <a:rPr lang="it-IT" dirty="0" err="1"/>
              <a:t>electronics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62172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67EA5-1C91-4B20-83E3-18BE668D2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B3F8E4-88FB-E7AF-D506-AB66D1020781}"/>
              </a:ext>
            </a:extLst>
          </p:cNvPr>
          <p:cNvSpPr/>
          <p:nvPr/>
        </p:nvSpPr>
        <p:spPr>
          <a:xfrm>
            <a:off x="502920" y="16459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566F1-E003-8A63-9BF7-EC13D7990118}"/>
              </a:ext>
            </a:extLst>
          </p:cNvPr>
          <p:cNvSpPr txBox="1"/>
          <p:nvPr/>
        </p:nvSpPr>
        <p:spPr>
          <a:xfrm>
            <a:off x="10652760" y="16459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NTNU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1ECA46-FEAC-D48B-66FE-CCA1D26FA92F}"/>
              </a:ext>
            </a:extLst>
          </p:cNvPr>
          <p:cNvSpPr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solidFill>
            <a:srgbClr val="0A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E1E13EC5-481C-5618-7F38-2090279BCCED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it-IT" b="1" dirty="0" err="1"/>
              <a:t>Conclusions</a:t>
            </a:r>
            <a:endParaRPr lang="it-IT" b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4EC4E60-93F7-ABDE-CB13-36782D302916}"/>
              </a:ext>
            </a:extLst>
          </p:cNvPr>
          <p:cNvSpPr txBox="1"/>
          <p:nvPr/>
        </p:nvSpPr>
        <p:spPr>
          <a:xfrm>
            <a:off x="1347809" y="2038384"/>
            <a:ext cx="361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/>
              <a:t>Advantages</a:t>
            </a:r>
            <a:r>
              <a:rPr lang="it-IT" b="1" dirty="0"/>
              <a:t> of 2D-Based Devices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7A21C8E-FBB6-BB1E-F8CA-F61818BFD15B}"/>
              </a:ext>
            </a:extLst>
          </p:cNvPr>
          <p:cNvSpPr txBox="1"/>
          <p:nvPr/>
        </p:nvSpPr>
        <p:spPr>
          <a:xfrm>
            <a:off x="6499227" y="2052846"/>
            <a:ext cx="3319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/>
              <a:t>Main</a:t>
            </a:r>
            <a:r>
              <a:rPr lang="it-IT" b="1" dirty="0"/>
              <a:t> Challenges to </a:t>
            </a:r>
            <a:r>
              <a:rPr lang="it-IT" b="1" dirty="0" err="1"/>
              <a:t>Overcome</a:t>
            </a:r>
            <a:endParaRPr lang="it-IT" b="1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AC01825-BFF0-A956-6FD3-FE1B48616A2C}"/>
              </a:ext>
            </a:extLst>
          </p:cNvPr>
          <p:cNvSpPr txBox="1"/>
          <p:nvPr/>
        </p:nvSpPr>
        <p:spPr>
          <a:xfrm>
            <a:off x="1232053" y="2690336"/>
            <a:ext cx="48154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Atomic</a:t>
            </a:r>
            <a:r>
              <a:rPr lang="it-IT" dirty="0"/>
              <a:t> </a:t>
            </a:r>
            <a:r>
              <a:rPr lang="it-IT" dirty="0" err="1"/>
              <a:t>thickness</a:t>
            </a:r>
            <a:r>
              <a:rPr lang="it-IT" dirty="0"/>
              <a:t> and </a:t>
            </a:r>
            <a:r>
              <a:rPr lang="it-IT" dirty="0" err="1"/>
              <a:t>miniaturization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Tunable</a:t>
            </a:r>
            <a:r>
              <a:rPr lang="it-IT" dirty="0"/>
              <a:t> </a:t>
            </a:r>
            <a:r>
              <a:rPr lang="it-IT" dirty="0" err="1"/>
              <a:t>electronic</a:t>
            </a:r>
            <a:r>
              <a:rPr lang="it-IT" dirty="0"/>
              <a:t> and optical </a:t>
            </a:r>
            <a:r>
              <a:rPr lang="it-IT" dirty="0" err="1"/>
              <a:t>properties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High </a:t>
            </a:r>
            <a:r>
              <a:rPr lang="it-IT" dirty="0" err="1"/>
              <a:t>electrostatic</a:t>
            </a:r>
            <a:r>
              <a:rPr lang="it-IT" dirty="0"/>
              <a:t>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High </a:t>
            </a:r>
            <a:r>
              <a:rPr lang="it-IT" dirty="0" err="1"/>
              <a:t>surface</a:t>
            </a:r>
            <a:r>
              <a:rPr lang="it-IT" dirty="0"/>
              <a:t> sensitivity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Mechanical</a:t>
            </a:r>
            <a:r>
              <a:rPr lang="it-IT" dirty="0"/>
              <a:t> </a:t>
            </a:r>
            <a:r>
              <a:rPr lang="it-IT" dirty="0" err="1"/>
              <a:t>flexibility</a:t>
            </a:r>
            <a:r>
              <a:rPr lang="it-IT" dirty="0"/>
              <a:t> and </a:t>
            </a:r>
            <a:r>
              <a:rPr lang="it-IT" dirty="0" err="1"/>
              <a:t>heterostructures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A80462C-7936-2B9D-65AB-CCF71A3F4B69}"/>
              </a:ext>
            </a:extLst>
          </p:cNvPr>
          <p:cNvSpPr txBox="1"/>
          <p:nvPr/>
        </p:nvSpPr>
        <p:spPr>
          <a:xfrm>
            <a:off x="6499227" y="2681497"/>
            <a:ext cx="493077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Material</a:t>
            </a:r>
            <a:r>
              <a:rPr lang="it-IT" dirty="0"/>
              <a:t> </a:t>
            </a:r>
            <a:r>
              <a:rPr lang="it-IT" dirty="0" err="1"/>
              <a:t>quality</a:t>
            </a:r>
            <a:r>
              <a:rPr lang="it-IT" dirty="0"/>
              <a:t> and </a:t>
            </a:r>
            <a:r>
              <a:rPr lang="it-IT" dirty="0" err="1"/>
              <a:t>uniformity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Scalability</a:t>
            </a:r>
            <a:r>
              <a:rPr lang="it-IT" dirty="0"/>
              <a:t> of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Environmental</a:t>
            </a:r>
            <a:r>
              <a:rPr lang="it-IT" dirty="0"/>
              <a:t> </a:t>
            </a:r>
            <a:r>
              <a:rPr lang="it-IT" dirty="0" err="1"/>
              <a:t>stability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Contact </a:t>
            </a:r>
            <a:r>
              <a:rPr lang="it-IT" dirty="0" err="1"/>
              <a:t>resistance</a:t>
            </a:r>
            <a:r>
              <a:rPr lang="it-IT" dirty="0"/>
              <a:t> and </a:t>
            </a:r>
            <a:r>
              <a:rPr lang="it-IT" dirty="0" err="1"/>
              <a:t>interface</a:t>
            </a:r>
            <a:r>
              <a:rPr lang="it-IT" dirty="0"/>
              <a:t>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Reproducibility</a:t>
            </a:r>
            <a:r>
              <a:rPr lang="it-IT" dirty="0"/>
              <a:t> and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3027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249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Presentazione standard di PowerPoint</vt:lpstr>
      <vt:lpstr>Definition of 2D material</vt:lpstr>
      <vt:lpstr>Definition of 2D-based devices</vt:lpstr>
      <vt:lpstr>Worked out example MoS2</vt:lpstr>
      <vt:lpstr>Worked out example MoS2</vt:lpstr>
      <vt:lpstr>Applications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Lenzi</dc:creator>
  <cp:lastModifiedBy>Matteo Lenzi</cp:lastModifiedBy>
  <cp:revision>3</cp:revision>
  <dcterms:created xsi:type="dcterms:W3CDTF">2026-10-26T15:33:27Z</dcterms:created>
  <dcterms:modified xsi:type="dcterms:W3CDTF">2026-10-26T16:46:12Z</dcterms:modified>
</cp:coreProperties>
</file>